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1b9e7bf8-6b27-c286-a504-9b02729e4cbf}">
          <p14:sldIdLst>
            <p14:sldId id="256"/>
            <p14:sldId id="257"/>
            <p14:sldId id="258"/>
          </p14:sldIdLst>
        </p14:section>
        <p14:section name="Solution" id="{53b4125d-d6c7-a90d-2735-1276c1987808}">
          <p14:sldIdLst>
            <p14:sldId id="259"/>
            <p14:sldId id="260"/>
            <p14:sldId id="261"/>
            <p14:sldId id="262"/>
          </p14:sldIdLst>
        </p14:section>
        <p14:section name="Evaluation" id="{8725c072-110b-c924-1e6a-20803c414a24}">
          <p14:sldIdLst>
            <p14:sldId id="263"/>
            <p14:sldId id="264"/>
          </p14:sldIdLst>
        </p14:section>
        <p14:section name="Wrap-up" id="{729ca1d1-0af7-a612-46d9-3e998e65b49e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problem statement: build a working system that detects zombie and orphan processes. Built purely in C and runs on Ubuntu.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both terms simply. A zombie is a dead child nobody reaped; an orphan is a live child whose parent died. Both are invisible unless you look in the process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ideas: detect, monitor, demonstrate, and keep it lightweight.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right: /proc is the data source, read_process parses it, scan_processes classifies it, and the report is printed. The demo generators feed real processes into the same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simple rules decide everything. Zombie state is certain. PPID 1 is only a hint of orphanhood, which is why the label says possible orphan.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small function per job. The two demo functions exist so the judges can see detection working on real processes.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is standard C and POSIX. Nothing to install beyond build-essential.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 zombie and orphan demos live. The last two rows are robustness cases handled in the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zombie shows state Z with its parent PID. The orphan shows PPID 1 after its parent exited. Mention that other PPID 1 entries are normal system services.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audiences benefit: admins, learners, and anyone who needs a dependency-free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 about the PPID 1 heuristic. The fix is straightforward: walk the ancestry to find subreapers.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Offer a live demo: run the zombie and orphan options, then scan.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58368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114800"/>
            <a:ext cx="64008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Zombie and Orphan Process Detection System  |  OSSP Hackathon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583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Zombie and Orphan Process Detection System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11480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OSSP Hackathon  |  Built in C for Ubuntu Linux</a:t>
            </a:r>
            <a:endParaRPr lang="en-US" sz="1800" dirty="0"/>
          </a:p>
        </p:txBody>
      </p:sp>
      <p:sp>
        <p:nvSpPr>
          <p:cNvPr id="4" name="Hero circle"/>
          <p:cNvSpPr/>
          <p:nvPr/>
        </p:nvSpPr>
        <p:spPr>
          <a:xfrm>
            <a:off x="7955280" y="1371600"/>
            <a:ext cx="3566160" cy="35661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Ghost icon representing a zombie proce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0" y="2331720"/>
            <a:ext cx="1645920" cy="1645920"/>
          </a:xfrm>
          <a:prstGeom prst="rect">
            <a:avLst/>
          </a:prstGeom>
        </p:spPr>
      </p:pic>
      <p:sp>
        <p:nvSpPr>
          <p:cNvPr id="6" name="Hero circle small"/>
          <p:cNvSpPr/>
          <p:nvPr/>
        </p:nvSpPr>
        <p:spPr>
          <a:xfrm>
            <a:off x="10332720" y="4114800"/>
            <a:ext cx="1371600" cy="1371600"/>
          </a:xfrm>
          <a:prstGeom prst="ellipse">
            <a:avLst/>
          </a:prstGeom>
          <a:solidFill>
            <a:schemeClr val="tx2"/>
          </a:solidFill>
          <a:ln w="50800">
            <a:solidFill>
              <a:schemeClr val="tx1"/>
            </a:solidFill>
            <a:prstDash val="solid"/>
          </a:ln>
        </p:spPr>
      </p:sp>
      <p:pic>
        <p:nvPicPr>
          <p:cNvPr id="7" name="Image 1" descr="Child icon representing an orphan proce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6768" y="4498848"/>
            <a:ext cx="603504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problem: processes that are not cleaned up</a:t>
            </a:r>
            <a:endParaRPr lang="en-US" sz="3600" dirty="0"/>
          </a:p>
        </p:txBody>
      </p:sp>
      <p:sp>
        <p:nvSpPr>
          <p:cNvPr id="3" name="Problem card"/>
          <p:cNvSpPr/>
          <p:nvPr/>
        </p:nvSpPr>
        <p:spPr>
          <a:xfrm>
            <a:off x="548640" y="1463040"/>
            <a:ext cx="539496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/>
        </p:spPr>
      </p:sp>
      <p:sp>
        <p:nvSpPr>
          <p:cNvPr id="4" name="Zombie process badge"/>
          <p:cNvSpPr/>
          <p:nvPr/>
        </p:nvSpPr>
        <p:spPr>
          <a:xfrm>
            <a:off x="868680" y="1783080"/>
            <a:ext cx="822960" cy="82296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5" name="Image 0" descr="Zombie proce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1997050"/>
            <a:ext cx="395021" cy="39502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20240" y="17830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Zombie process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83464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child that has finished running, but whose parent never called wait(). It stays in the process table in state Z.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79476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Why it matters: it holds a PID slot forever, and enough of them block new processes from starting.</a:t>
            </a:r>
            <a:endParaRPr lang="en-US" sz="1400" dirty="0"/>
          </a:p>
        </p:txBody>
      </p:sp>
      <p:sp>
        <p:nvSpPr>
          <p:cNvPr id="9" name="Problem card"/>
          <p:cNvSpPr/>
          <p:nvPr/>
        </p:nvSpPr>
        <p:spPr>
          <a:xfrm>
            <a:off x="6217920" y="1463040"/>
            <a:ext cx="539496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/>
        </p:spPr>
      </p:sp>
      <p:sp>
        <p:nvSpPr>
          <p:cNvPr id="10" name="Orphan process badge"/>
          <p:cNvSpPr/>
          <p:nvPr/>
        </p:nvSpPr>
        <p:spPr>
          <a:xfrm>
            <a:off x="6537960" y="1783080"/>
            <a:ext cx="822960" cy="82296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1" name="Image 1" descr="Orphan proce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1930" y="1997050"/>
            <a:ext cx="395021" cy="39502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589520" y="17830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Orphan process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6537960" y="283464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running child whose parent has exited. The kernel re-parents it to init (PID 1) or a subreaper.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6537960" y="379476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Why it matters: forgotten background work keeps using CPU and memory with no one watching it.</a:t>
            </a:r>
            <a:endParaRPr lang="en-US" sz="1400" dirty="0"/>
          </a:p>
        </p:txBody>
      </p:sp>
      <p:sp>
        <p:nvSpPr>
          <p:cNvPr id="15" name="Goal banner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chemeClr val="tx1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914400" y="5029200"/>
            <a:ext cx="10332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Goal: a working tool that automatically finds both kinds of processes on a live Linux system.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Our solution at a glance</a:t>
            </a:r>
            <a:endParaRPr lang="en-US" sz="3600" dirty="0"/>
          </a:p>
        </p:txBody>
      </p:sp>
      <p:sp>
        <p:nvSpPr>
          <p:cNvPr id="3" name="Feature card"/>
          <p:cNvSpPr/>
          <p:nvPr/>
        </p:nvSpPr>
        <p:spPr>
          <a:xfrm>
            <a:off x="548640" y="1463040"/>
            <a:ext cx="53949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4" name="Detect badge"/>
          <p:cNvSpPr/>
          <p:nvPr/>
        </p:nvSpPr>
        <p:spPr>
          <a:xfrm>
            <a:off x="868680" y="1874520"/>
            <a:ext cx="822960" cy="82296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5" name="Image 0" descr="Dete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088490"/>
            <a:ext cx="395021" cy="39502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65960" y="18288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Detect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965960" y="233172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Scans every process in /proc and labels it Zombie, Possible Orphan or Normal.</a:t>
            </a:r>
            <a:endParaRPr lang="en-US" sz="1600" dirty="0"/>
          </a:p>
        </p:txBody>
      </p:sp>
      <p:sp>
        <p:nvSpPr>
          <p:cNvPr id="8" name="Feature card"/>
          <p:cNvSpPr/>
          <p:nvPr/>
        </p:nvSpPr>
        <p:spPr>
          <a:xfrm>
            <a:off x="6217920" y="1463040"/>
            <a:ext cx="53949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9" name="Monitor badge"/>
          <p:cNvSpPr/>
          <p:nvPr/>
        </p:nvSpPr>
        <p:spPr>
          <a:xfrm>
            <a:off x="6537960" y="1874520"/>
            <a:ext cx="822960" cy="82296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0" name="Image 1" descr="Monit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1930" y="2088490"/>
            <a:ext cx="395021" cy="39502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35240" y="18288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Monitor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7635240" y="233172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Live mode rescans every 3 seconds, so new zombies show up as they appear.</a:t>
            </a:r>
            <a:endParaRPr lang="en-US" sz="1600" dirty="0"/>
          </a:p>
        </p:txBody>
      </p:sp>
      <p:sp>
        <p:nvSpPr>
          <p:cNvPr id="13" name="Feature card"/>
          <p:cNvSpPr/>
          <p:nvPr/>
        </p:nvSpPr>
        <p:spPr>
          <a:xfrm>
            <a:off x="548640" y="3794760"/>
            <a:ext cx="53949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4" name="Demonstrate badge"/>
          <p:cNvSpPr/>
          <p:nvPr/>
        </p:nvSpPr>
        <p:spPr>
          <a:xfrm>
            <a:off x="868680" y="4206240"/>
            <a:ext cx="822960" cy="82296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5" name="Image 2" descr="Demonstra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2650" y="4420210"/>
            <a:ext cx="395021" cy="395021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965960" y="41605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Demonstrate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1965960" y="466344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Built-in menu options create a real zombie and a real orphan for live demos.</a:t>
            </a:r>
            <a:endParaRPr lang="en-US" sz="1600" dirty="0"/>
          </a:p>
        </p:txBody>
      </p:sp>
      <p:sp>
        <p:nvSpPr>
          <p:cNvPr id="18" name="Feature card"/>
          <p:cNvSpPr/>
          <p:nvPr/>
        </p:nvSpPr>
        <p:spPr>
          <a:xfrm>
            <a:off x="6217920" y="3794760"/>
            <a:ext cx="53949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9" name="Stay lightweight badge"/>
          <p:cNvSpPr/>
          <p:nvPr/>
        </p:nvSpPr>
        <p:spPr>
          <a:xfrm>
            <a:off x="6537960" y="4206240"/>
            <a:ext cx="822960" cy="82296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0" name="Image 3" descr="Stay lightwe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1930" y="4420210"/>
            <a:ext cx="395021" cy="3950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635240" y="41605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Stay lightweight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7635240" y="466344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Pure C with the standard library only. No root access, no dependencies.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System design</a:t>
            </a:r>
            <a:endParaRPr lang="en-US" sz="3600" dirty="0"/>
          </a:p>
        </p:txBody>
      </p:sp>
      <p:sp>
        <p:nvSpPr>
          <p:cNvPr id="3" name="Menu bar"/>
          <p:cNvSpPr/>
          <p:nvPr/>
        </p:nvSpPr>
        <p:spPr>
          <a:xfrm>
            <a:off x="548640" y="1417320"/>
            <a:ext cx="11064240" cy="640080"/>
          </a:xfrm>
          <a:prstGeom prst="roundRect">
            <a:avLst>
              <a:gd name="adj" fmla="val 17143"/>
            </a:avLst>
          </a:prstGeom>
          <a:solidFill>
            <a:schemeClr val="tx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Terminal menu (main):  Scan  |  Live monitor  |  Create zombie  |  Create orphan  |  Exit</a:t>
            </a:r>
            <a:endParaRPr lang="en-US" sz="1600" dirty="0"/>
          </a:p>
        </p:txBody>
      </p:sp>
      <p:sp>
        <p:nvSpPr>
          <p:cNvPr id="5" name="Stage card"/>
          <p:cNvSpPr/>
          <p:nvPr/>
        </p:nvSpPr>
        <p:spPr>
          <a:xfrm>
            <a:off x="548640" y="2651760"/>
            <a:ext cx="2377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276148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Kernel /proc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154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/proc/PID/stat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52044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Live source of truth: state and parent PID of each process.</a:t>
            </a:r>
            <a:endParaRPr lang="en-US" sz="1400" dirty="0"/>
          </a:p>
        </p:txBody>
      </p:sp>
      <p:sp>
        <p:nvSpPr>
          <p:cNvPr id="9" name="Arrow"/>
          <p:cNvSpPr/>
          <p:nvPr/>
        </p:nvSpPr>
        <p:spPr>
          <a:xfrm>
            <a:off x="2971800" y="3566160"/>
            <a:ext cx="429768" cy="0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0" name="Stage card"/>
          <p:cNvSpPr/>
          <p:nvPr/>
        </p:nvSpPr>
        <p:spPr>
          <a:xfrm>
            <a:off x="3447288" y="2651760"/>
            <a:ext cx="2377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84448" y="276148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Reader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3154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read_process()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584448" y="352044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Extracts name, state and PPID safely from the stat line.</a:t>
            </a:r>
            <a:endParaRPr lang="en-US" sz="1400" dirty="0"/>
          </a:p>
        </p:txBody>
      </p:sp>
      <p:sp>
        <p:nvSpPr>
          <p:cNvPr id="14" name="Arrow"/>
          <p:cNvSpPr/>
          <p:nvPr/>
        </p:nvSpPr>
        <p:spPr>
          <a:xfrm>
            <a:off x="5870448" y="3566160"/>
            <a:ext cx="429768" cy="0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5" name="Stage card"/>
          <p:cNvSpPr/>
          <p:nvPr/>
        </p:nvSpPr>
        <p:spPr>
          <a:xfrm>
            <a:off x="6345936" y="2651760"/>
            <a:ext cx="2377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83096" y="276148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Classifier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83096" y="3154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scan_processes()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83096" y="352044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Applies the zombie and orphan rules and counts results.</a:t>
            </a:r>
            <a:endParaRPr lang="en-US" sz="1400" dirty="0"/>
          </a:p>
        </p:txBody>
      </p:sp>
      <p:sp>
        <p:nvSpPr>
          <p:cNvPr id="19" name="Arrow"/>
          <p:cNvSpPr/>
          <p:nvPr/>
        </p:nvSpPr>
        <p:spPr>
          <a:xfrm>
            <a:off x="8769096" y="3566160"/>
            <a:ext cx="429768" cy="0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0" name="Stage card"/>
          <p:cNvSpPr/>
          <p:nvPr/>
        </p:nvSpPr>
        <p:spPr>
          <a:xfrm>
            <a:off x="9244584" y="2651760"/>
            <a:ext cx="2377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81744" y="276148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Report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381744" y="3154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monitor_processes()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381744" y="352044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Prints the table and summary, and repeats every 3 s.</a:t>
            </a:r>
            <a:endParaRPr lang="en-US" sz="1400" dirty="0"/>
          </a:p>
        </p:txBody>
      </p:sp>
      <p:sp>
        <p:nvSpPr>
          <p:cNvPr id="24" name="Arrow down"/>
          <p:cNvSpPr/>
          <p:nvPr/>
        </p:nvSpPr>
        <p:spPr>
          <a:xfrm>
            <a:off x="7534656" y="2103120"/>
            <a:ext cx="0" cy="502920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5" name="Arrow up"/>
          <p:cNvSpPr/>
          <p:nvPr/>
        </p:nvSpPr>
        <p:spPr>
          <a:xfrm>
            <a:off x="1737360" y="4526280"/>
            <a:ext cx="0" cy="45720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olid"/>
            <a:headEnd type="triangle"/>
          </a:ln>
        </p:spPr>
      </p:sp>
      <p:sp>
        <p:nvSpPr>
          <p:cNvPr id="26" name="Generator card"/>
          <p:cNvSpPr/>
          <p:nvPr/>
        </p:nvSpPr>
        <p:spPr>
          <a:xfrm>
            <a:off x="548640" y="5029200"/>
            <a:ext cx="5276088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31520" y="51206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Test generators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548640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create_zombie_demo() and create_orphan_demo() make real processes to detect.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309360" y="512064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5"/>
                </a:solidFill>
              </a:rPr>
              <a:t>Runs entirely in user space: no kernel module and no root access needed.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Detection logic</a:t>
            </a:r>
            <a:endParaRPr lang="en-US" sz="3600" dirty="0"/>
          </a:p>
        </p:txBody>
      </p:sp>
      <p:sp>
        <p:nvSpPr>
          <p:cNvPr id="3" name="Rule card"/>
          <p:cNvSpPr/>
          <p:nvPr/>
        </p:nvSpPr>
        <p:spPr>
          <a:xfrm>
            <a:off x="548640" y="1463040"/>
            <a:ext cx="37490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61848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1.  Exited but not reaped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574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== 'Z'</a:t>
            </a:r>
            <a:endParaRPr lang="en-US" sz="1800" dirty="0"/>
          </a:p>
        </p:txBody>
      </p:sp>
      <p:sp>
        <p:nvSpPr>
          <p:cNvPr id="6" name="Arrow"/>
          <p:cNvSpPr/>
          <p:nvPr/>
        </p:nvSpPr>
        <p:spPr>
          <a:xfrm>
            <a:off x="4389120" y="2029968"/>
            <a:ext cx="502920" cy="0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7" name="Result pill"/>
          <p:cNvSpPr/>
          <p:nvPr/>
        </p:nvSpPr>
        <p:spPr>
          <a:xfrm>
            <a:off x="4983480" y="1463040"/>
            <a:ext cx="265176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983480" y="1463040"/>
            <a:ext cx="2651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ZOMBIE</a:t>
            </a:r>
            <a:endParaRPr lang="en-US" sz="1800" dirty="0"/>
          </a:p>
        </p:txBody>
      </p:sp>
      <p:sp>
        <p:nvSpPr>
          <p:cNvPr id="9" name="Rule card"/>
          <p:cNvSpPr/>
          <p:nvPr/>
        </p:nvSpPr>
        <p:spPr>
          <a:xfrm>
            <a:off x="548640" y="2834640"/>
            <a:ext cx="37490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299008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2.  Adopted by init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4290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ppid == 1</a:t>
            </a:r>
            <a:endParaRPr lang="en-US" sz="1800" dirty="0"/>
          </a:p>
        </p:txBody>
      </p:sp>
      <p:sp>
        <p:nvSpPr>
          <p:cNvPr id="12" name="Arrow"/>
          <p:cNvSpPr/>
          <p:nvPr/>
        </p:nvSpPr>
        <p:spPr>
          <a:xfrm>
            <a:off x="4389120" y="3401568"/>
            <a:ext cx="502920" cy="0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3" name="Result pill"/>
          <p:cNvSpPr/>
          <p:nvPr/>
        </p:nvSpPr>
        <p:spPr>
          <a:xfrm>
            <a:off x="4983480" y="2834640"/>
            <a:ext cx="2651760" cy="1143000"/>
          </a:xfrm>
          <a:prstGeom prst="roundRect">
            <a:avLst>
              <a:gd name="adj" fmla="val 9600"/>
            </a:avLst>
          </a:prstGeom>
          <a:solidFill>
            <a:schemeClr val="accent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983480" y="2834640"/>
            <a:ext cx="2651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POSSIBLE ORPHAN</a:t>
            </a:r>
            <a:endParaRPr lang="en-US" sz="1800" dirty="0"/>
          </a:p>
        </p:txBody>
      </p:sp>
      <p:sp>
        <p:nvSpPr>
          <p:cNvPr id="15" name="Rule card"/>
          <p:cNvSpPr/>
          <p:nvPr/>
        </p:nvSpPr>
        <p:spPr>
          <a:xfrm>
            <a:off x="548640" y="4206240"/>
            <a:ext cx="37490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436168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3.  Everything else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800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otherwise</a:t>
            </a:r>
            <a:endParaRPr lang="en-US" sz="1800" dirty="0"/>
          </a:p>
        </p:txBody>
      </p:sp>
      <p:sp>
        <p:nvSpPr>
          <p:cNvPr id="18" name="Arrow"/>
          <p:cNvSpPr/>
          <p:nvPr/>
        </p:nvSpPr>
        <p:spPr>
          <a:xfrm>
            <a:off x="4389120" y="4773168"/>
            <a:ext cx="502920" cy="0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9" name="Result pill"/>
          <p:cNvSpPr/>
          <p:nvPr/>
        </p:nvSpPr>
        <p:spPr>
          <a:xfrm>
            <a:off x="4983480" y="4206240"/>
            <a:ext cx="2651760" cy="1143000"/>
          </a:xfrm>
          <a:prstGeom prst="roundRect">
            <a:avLst>
              <a:gd name="adj" fmla="val 9600"/>
            </a:avLst>
          </a:prstGeom>
          <a:solidFill>
            <a:schemeClr val="accent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83480" y="4206240"/>
            <a:ext cx="2651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Normal</a:t>
            </a:r>
            <a:endParaRPr lang="en-US" sz="1800" dirty="0"/>
          </a:p>
        </p:txBody>
      </p:sp>
      <p:sp>
        <p:nvSpPr>
          <p:cNvPr id="21" name="Parsing panel"/>
          <p:cNvSpPr/>
          <p:nvPr/>
        </p:nvSpPr>
        <p:spPr>
          <a:xfrm>
            <a:off x="8001000" y="1463040"/>
            <a:ext cx="3611880" cy="3886200"/>
          </a:xfrm>
          <a:prstGeom prst="roundRect">
            <a:avLst>
              <a:gd name="adj" fmla="val 3038"/>
            </a:avLst>
          </a:prstGeom>
          <a:solidFill>
            <a:schemeClr val="tx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75320" y="1645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Robust parsing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8275320" y="214884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  = strchr(buf, '(');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 = strrchr(buf, ')');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sscanf(right + 1, " %c %d",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&amp;state, &amp;ppid);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275320" y="356616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Process names can contain spaces or ')'. Anchoring on the last ')' keeps state and PPID correct.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The detector skips its own PID when applying the orphan rule.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Implementation approach</a:t>
            </a:r>
            <a:endParaRPr lang="en-US" sz="3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78638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Responsibility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is_number()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Filters /proc entries so only numeric PID directories are scanned.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read_process()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Opens /proc/PID/stat and parses name, state and PPID. Returns 0 if the process vanished.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scan_processes()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Walks /proc with readdir, classifies each process, prints the table and summary counts.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monitor_processes()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Loops forever: scan, then sleep(INTERVAL), which is 3 seconds.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create_zombie_demo()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fork() a child that calls _exit(0). The parent never waits, so a zombie remains.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create_orphan_demo()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 helper forks a sleeping child, then exits. Only the helper is reaped.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main()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Menu loop with input validation for options 1 to 5.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Technologies used</a:t>
            </a:r>
            <a:endParaRPr lang="en-US" sz="3600" dirty="0"/>
          </a:p>
        </p:txBody>
      </p:sp>
      <p:sp>
        <p:nvSpPr>
          <p:cNvPr id="3" name="Tech tile"/>
          <p:cNvSpPr/>
          <p:nvPr/>
        </p:nvSpPr>
        <p:spPr>
          <a:xfrm>
            <a:off x="548640" y="1463040"/>
            <a:ext cx="35661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4" name="C language badge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5" name="Image 0" descr="C langu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155" y="1927555"/>
            <a:ext cx="351130" cy="35113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7373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 language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6517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Systems-level control, tiny footprint, no runtime.</a:t>
            </a:r>
            <a:endParaRPr lang="en-US" sz="1500" dirty="0"/>
          </a:p>
        </p:txBody>
      </p:sp>
      <p:sp>
        <p:nvSpPr>
          <p:cNvPr id="8" name="Tech tile"/>
          <p:cNvSpPr/>
          <p:nvPr/>
        </p:nvSpPr>
        <p:spPr>
          <a:xfrm>
            <a:off x="4297680" y="1463040"/>
            <a:ext cx="35661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9" name="Ubuntu and GCC badge"/>
          <p:cNvSpPr/>
          <p:nvPr/>
        </p:nvSpPr>
        <p:spPr>
          <a:xfrm>
            <a:off x="4572000" y="1737360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0" name="Image 1" descr="Ubuntu and GC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195" y="1927555"/>
            <a:ext cx="351130" cy="35113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0" y="17373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Ubuntu and GCC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26517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Target platform; compiled with a single gcc command.</a:t>
            </a:r>
            <a:endParaRPr lang="en-US" sz="1500" dirty="0"/>
          </a:p>
        </p:txBody>
      </p:sp>
      <p:sp>
        <p:nvSpPr>
          <p:cNvPr id="13" name="Tech tile"/>
          <p:cNvSpPr/>
          <p:nvPr/>
        </p:nvSpPr>
        <p:spPr>
          <a:xfrm>
            <a:off x="8046720" y="1463040"/>
            <a:ext cx="35661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4" name="/proc filesystem badge"/>
          <p:cNvSpPr/>
          <p:nvPr/>
        </p:nvSpPr>
        <p:spPr>
          <a:xfrm>
            <a:off x="8321040" y="1737360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5" name="Image 2" descr="/proc filesyste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1235" y="1927555"/>
            <a:ext cx="351130" cy="35113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35440" y="17373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/proc filesystem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26517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Kernel-exposed process data, read as plain text.</a:t>
            </a:r>
            <a:endParaRPr lang="en-US" sz="1500" dirty="0"/>
          </a:p>
        </p:txBody>
      </p:sp>
      <p:sp>
        <p:nvSpPr>
          <p:cNvPr id="18" name="Tech tile"/>
          <p:cNvSpPr/>
          <p:nvPr/>
        </p:nvSpPr>
        <p:spPr>
          <a:xfrm>
            <a:off x="548640" y="3794760"/>
            <a:ext cx="35661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9" name="POSIX process APIs badge"/>
          <p:cNvSpPr/>
          <p:nvPr/>
        </p:nvSpPr>
        <p:spPr>
          <a:xfrm>
            <a:off x="822960" y="4069080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0" name="Image 3" descr="POSIX process API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155" y="4259275"/>
            <a:ext cx="351130" cy="35113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737360" y="40690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POSIX process APIs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498348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fork(), waitpid(), _exit(), getpid(), sleep().</a:t>
            </a:r>
            <a:endParaRPr lang="en-US" sz="1500" dirty="0"/>
          </a:p>
        </p:txBody>
      </p:sp>
      <p:sp>
        <p:nvSpPr>
          <p:cNvPr id="23" name="Tech tile"/>
          <p:cNvSpPr/>
          <p:nvPr/>
        </p:nvSpPr>
        <p:spPr>
          <a:xfrm>
            <a:off x="4297680" y="3794760"/>
            <a:ext cx="35661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4" name="Standard C library badge"/>
          <p:cNvSpPr/>
          <p:nvPr/>
        </p:nvSpPr>
        <p:spPr>
          <a:xfrm>
            <a:off x="4572000" y="4069080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5" name="Image 4" descr="Standard C librar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2195" y="4259275"/>
            <a:ext cx="351130" cy="35113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486400" y="40690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Standard C library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4572000" y="498348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stdio, string, ctype and dirent for parsing and scanning.</a:t>
            </a:r>
            <a:endParaRPr lang="en-US" sz="1500" dirty="0"/>
          </a:p>
        </p:txBody>
      </p:sp>
      <p:sp>
        <p:nvSpPr>
          <p:cNvPr id="28" name="Tech tile"/>
          <p:cNvSpPr/>
          <p:nvPr/>
        </p:nvSpPr>
        <p:spPr>
          <a:xfrm>
            <a:off x="8046720" y="3794760"/>
            <a:ext cx="35661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9" name="Terminal interface badge"/>
          <p:cNvSpPr/>
          <p:nvPr/>
        </p:nvSpPr>
        <p:spPr>
          <a:xfrm>
            <a:off x="8321040" y="4069080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30" name="Image 5" descr="Terminal inter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1235" y="4259275"/>
            <a:ext cx="351130" cy="35113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235440" y="40690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Terminal interface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8321040" y="498348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Menu-driven CLI. No GUI toolkit required.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Testing</a:t>
            </a:r>
            <a:endParaRPr lang="en-US" sz="3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566160"/>
                <a:gridCol w="3200400"/>
                <a:gridCol w="182880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Test case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How it was run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Expected result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Status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Zombie creation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Menu option 3: child exits, parent never calls wait()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State Z, flagged ZOMBIE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Orphan creation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Menu option 4: helper exits, grandchild keeps sleeping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PPID becomes 1, flagged POSSIBLE ORPHAN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Ordinary processes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Scan with shells and services running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Shown as Normal, not flagged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Process exits mid-scan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Race between readdir and fopen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read_process returns 0, entry skipped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Handled in code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Bad menu input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Letters typed instead of 1 to 5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Input flushed, menu shown again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Handled in code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Zombie and orphan tests were run on a Linux system; observed PIDs and PPIDs are shown on the next slide.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Results</a:t>
            </a:r>
            <a:endParaRPr lang="en-US" sz="3600" dirty="0"/>
          </a:p>
        </p:txBody>
      </p:sp>
      <p:sp>
        <p:nvSpPr>
          <p:cNvPr id="3" name="Terminal"/>
          <p:cNvSpPr/>
          <p:nvPr/>
        </p:nvSpPr>
        <p:spPr>
          <a:xfrm>
            <a:off x="548640" y="1463040"/>
            <a:ext cx="6766560" cy="3611880"/>
          </a:xfrm>
          <a:prstGeom prst="roundRect">
            <a:avLst>
              <a:gd name="adj" fmla="val 3038"/>
            </a:avLst>
          </a:prstGeom>
          <a:solidFill>
            <a:schemeClr val="tx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737360"/>
            <a:ext cx="6217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PID      PPID     STATE    PROCESS    DETECTION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95       94       Z        zo         ZOMBIE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8A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97       1        S        zo         POSSIBLE ORPHAN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-----------------------------------------------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Processes scanned        : 53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Zombie processes         : 1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Possible orphan processes: 4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25780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Sample output from a Linux test run. The other possible orphans are long-running services adopted by PID 1, which is why the label says "possible".</a:t>
            </a:r>
            <a:endParaRPr lang="en-US" sz="1400" dirty="0"/>
          </a:p>
        </p:txBody>
      </p:sp>
      <p:sp>
        <p:nvSpPr>
          <p:cNvPr id="6" name="Stat card"/>
          <p:cNvSpPr/>
          <p:nvPr/>
        </p:nvSpPr>
        <p:spPr>
          <a:xfrm>
            <a:off x="7772400" y="1463040"/>
            <a:ext cx="384048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001000" y="146304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1/1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9601200" y="146304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zombie created and detected</a:t>
            </a:r>
            <a:endParaRPr lang="en-US" sz="1500" dirty="0"/>
          </a:p>
        </p:txBody>
      </p:sp>
      <p:sp>
        <p:nvSpPr>
          <p:cNvPr id="9" name="Stat card"/>
          <p:cNvSpPr/>
          <p:nvPr/>
        </p:nvSpPr>
        <p:spPr>
          <a:xfrm>
            <a:off x="7772400" y="2834640"/>
            <a:ext cx="384048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001000" y="283464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1/1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9601200" y="283464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orphan created and detected</a:t>
            </a:r>
            <a:endParaRPr lang="en-US" sz="1500" dirty="0"/>
          </a:p>
        </p:txBody>
      </p:sp>
      <p:sp>
        <p:nvSpPr>
          <p:cNvPr id="12" name="Stat card"/>
          <p:cNvSpPr/>
          <p:nvPr/>
        </p:nvSpPr>
        <p:spPr>
          <a:xfrm>
            <a:off x="7772400" y="4206240"/>
            <a:ext cx="384048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001000" y="420624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53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0" y="420624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processes scanned in a single pass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Impact</a:t>
            </a:r>
            <a:endParaRPr lang="en-US" sz="3600" dirty="0"/>
          </a:p>
        </p:txBody>
      </p:sp>
      <p:sp>
        <p:nvSpPr>
          <p:cNvPr id="3" name="Impact card"/>
          <p:cNvSpPr/>
          <p:nvPr/>
        </p:nvSpPr>
        <p:spPr>
          <a:xfrm>
            <a:off x="548640" y="1463040"/>
            <a:ext cx="3566160" cy="315468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4" name="System administrators badge"/>
          <p:cNvSpPr/>
          <p:nvPr/>
        </p:nvSpPr>
        <p:spPr>
          <a:xfrm>
            <a:off x="868680" y="1783080"/>
            <a:ext cx="914400" cy="9144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5" name="Image 0" descr="System administra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0208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926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System administrators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38328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Spot leaked PIDs and abandoned background jobs before the process table fills up.</a:t>
            </a:r>
            <a:endParaRPr lang="en-US" sz="1500" dirty="0"/>
          </a:p>
        </p:txBody>
      </p:sp>
      <p:sp>
        <p:nvSpPr>
          <p:cNvPr id="8" name="Impact card"/>
          <p:cNvSpPr/>
          <p:nvPr/>
        </p:nvSpPr>
        <p:spPr>
          <a:xfrm>
            <a:off x="4297680" y="1463040"/>
            <a:ext cx="3566160" cy="315468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9" name="OS students and teachers badge"/>
          <p:cNvSpPr/>
          <p:nvPr/>
        </p:nvSpPr>
        <p:spPr>
          <a:xfrm>
            <a:off x="4617720" y="1783080"/>
            <a:ext cx="914400" cy="9144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0" name="Image 1" descr="OS students and teach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464" y="2020824"/>
            <a:ext cx="438912" cy="43891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7720" y="2926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OS students and teachers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7720" y="338328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Makes the process life cycle visible: fork, exit, wait and adopt, in seconds.</a:t>
            </a:r>
            <a:endParaRPr lang="en-US" sz="1500" dirty="0"/>
          </a:p>
        </p:txBody>
      </p:sp>
      <p:sp>
        <p:nvSpPr>
          <p:cNvPr id="13" name="Impact card"/>
          <p:cNvSpPr/>
          <p:nvPr/>
        </p:nvSpPr>
        <p:spPr>
          <a:xfrm>
            <a:off x="8046720" y="1463040"/>
            <a:ext cx="3566160" cy="315468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14" name="Easy to deploy badge"/>
          <p:cNvSpPr/>
          <p:nvPr/>
        </p:nvSpPr>
        <p:spPr>
          <a:xfrm>
            <a:off x="8366760" y="1783080"/>
            <a:ext cx="914400" cy="9144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5" name="Image 2" descr="Easy to deplo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504" y="202082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66760" y="2926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Easy to deploy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366760" y="338328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One C file, no root, no dependencies. Runs on any Ubuntu machine with GCC.</a:t>
            </a:r>
            <a:endParaRPr lang="en-US" sz="1500" dirty="0"/>
          </a:p>
        </p:txBody>
      </p:sp>
      <p:sp>
        <p:nvSpPr>
          <p:cNvPr id="18" name="Impact banner"/>
          <p:cNvSpPr/>
          <p:nvPr/>
        </p:nvSpPr>
        <p:spPr>
          <a:xfrm>
            <a:off x="548640" y="4892040"/>
            <a:ext cx="11064240" cy="1188720"/>
          </a:xfrm>
          <a:prstGeom prst="roundRect">
            <a:avLst>
              <a:gd name="adj" fmla="val 9231"/>
            </a:avLst>
          </a:prstGeom>
          <a:solidFill>
            <a:schemeClr val="tx1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914400" y="489204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Faster diagnosis, fewer resource leaks, and a clear way to teach how Linux manages processes.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Limitations and future scope</a:t>
            </a:r>
            <a:endParaRPr lang="en-US" sz="3600" dirty="0"/>
          </a:p>
        </p:txBody>
      </p:sp>
      <p:sp>
        <p:nvSpPr>
          <p:cNvPr id="3" name="Column card"/>
          <p:cNvSpPr/>
          <p:nvPr/>
        </p:nvSpPr>
        <p:spPr>
          <a:xfrm>
            <a:off x="548640" y="1463040"/>
            <a:ext cx="4937760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/>
        </p:spPr>
      </p:sp>
      <p:sp>
        <p:nvSpPr>
          <p:cNvPr id="4" name="Current limitations badge"/>
          <p:cNvSpPr/>
          <p:nvPr/>
        </p:nvSpPr>
        <p:spPr>
          <a:xfrm>
            <a:off x="868680" y="1737360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5" name="Image 0" descr="Current limita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875" y="1927555"/>
            <a:ext cx="351130" cy="35113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73736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Current limitations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788920"/>
            <a:ext cx="42976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PPID == 1 is a heuristic; long-running services also match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On Ubuntu desktop, orphans may be adopted by systemd --user, not PID 1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Detects only; no automatic cleanup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Linux only, because it relies on /proc</a:t>
            </a:r>
            <a:endParaRPr lang="en-US" sz="1500" dirty="0"/>
          </a:p>
        </p:txBody>
      </p:sp>
      <p:sp>
        <p:nvSpPr>
          <p:cNvPr id="8" name="Column card"/>
          <p:cNvSpPr/>
          <p:nvPr/>
        </p:nvSpPr>
        <p:spPr>
          <a:xfrm>
            <a:off x="6702552" y="1463040"/>
            <a:ext cx="4937760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/>
        </p:spPr>
      </p:sp>
      <p:sp>
        <p:nvSpPr>
          <p:cNvPr id="9" name="Future scope badge"/>
          <p:cNvSpPr/>
          <p:nvPr/>
        </p:nvSpPr>
        <p:spPr>
          <a:xfrm>
            <a:off x="7022592" y="1737360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0" name="Image 1" descr="Future sco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2787" y="1927555"/>
            <a:ext cx="351130" cy="35113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936992" y="173736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Future scope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7068312" y="2788920"/>
            <a:ext cx="42976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Detect subreapers by walking the parent chain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Signal the parent with SIGCHLD, or log findings to a file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Age and name filters to cut false positives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Background daemon with alerts, or an ncurses dashboard</a:t>
            </a:r>
            <a:endParaRPr lang="en-US" sz="1500" dirty="0"/>
          </a:p>
        </p:txBody>
      </p:sp>
      <p:sp>
        <p:nvSpPr>
          <p:cNvPr id="13" name="Next arrow"/>
          <p:cNvSpPr/>
          <p:nvPr/>
        </p:nvSpPr>
        <p:spPr>
          <a:xfrm>
            <a:off x="5596128" y="3383280"/>
            <a:ext cx="914400" cy="64008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583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Thank you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11480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Questions?  A lightweight C tool that finds zombie and orphan processes on Ubuntu.</a:t>
            </a:r>
            <a:endParaRPr lang="en-US" sz="1800" dirty="0"/>
          </a:p>
        </p:txBody>
      </p:sp>
      <p:sp>
        <p:nvSpPr>
          <p:cNvPr id="4" name="Hero circle"/>
          <p:cNvSpPr/>
          <p:nvPr/>
        </p:nvSpPr>
        <p:spPr>
          <a:xfrm>
            <a:off x="7955280" y="1371600"/>
            <a:ext cx="3566160" cy="35661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Ghost icon representing a zombie proce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0" y="2331720"/>
            <a:ext cx="1645920" cy="1645920"/>
          </a:xfrm>
          <a:prstGeom prst="rect">
            <a:avLst/>
          </a:prstGeom>
        </p:spPr>
      </p:pic>
      <p:sp>
        <p:nvSpPr>
          <p:cNvPr id="6" name="Hero circle small"/>
          <p:cNvSpPr/>
          <p:nvPr/>
        </p:nvSpPr>
        <p:spPr>
          <a:xfrm>
            <a:off x="10332720" y="4114800"/>
            <a:ext cx="1371600" cy="1371600"/>
          </a:xfrm>
          <a:prstGeom prst="ellipse">
            <a:avLst/>
          </a:prstGeom>
          <a:solidFill>
            <a:schemeClr val="tx2"/>
          </a:solidFill>
          <a:ln w="50800">
            <a:solidFill>
              <a:schemeClr val="tx1"/>
            </a:solidFill>
            <a:prstDash val="solid"/>
          </a:ln>
        </p:spPr>
      </p:sp>
      <p:pic>
        <p:nvPicPr>
          <p:cNvPr id="7" name="Image 1" descr="Child icon representing an orphan proce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6768" y="4498848"/>
            <a:ext cx="603504" cy="6035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Zombie Detector">
  <a:themeElements>
    <a:clrScheme name="Zombie Detector">
      <a:dk1>
        <a:srgbClr val="0F1F1A"/>
      </a:dk1>
      <a:lt1>
        <a:srgbClr val="FFFFFF"/>
      </a:lt1>
      <a:dk2>
        <a:srgbClr val="1F3D33"/>
      </a:dk2>
      <a:lt2>
        <a:srgbClr val="EAF4EF"/>
      </a:lt2>
      <a:accent1>
        <a:srgbClr val="1E9E62"/>
      </a:accent1>
      <a:accent2>
        <a:srgbClr val="D9482B"/>
      </a:accent2>
      <a:accent3>
        <a:srgbClr val="E0A21A"/>
      </a:accent3>
      <a:accent4>
        <a:srgbClr val="3A7CA5"/>
      </a:accent4>
      <a:accent5>
        <a:srgbClr val="5F7169"/>
      </a:accent5>
      <a:accent6>
        <a:srgbClr val="8FD3B0"/>
      </a:accent6>
      <a:hlink>
        <a:srgbClr val="3A7CA5"/>
      </a:hlink>
      <a:folHlink>
        <a:srgbClr val="5F7169"/>
      </a:folHlink>
    </a:clrScheme>
    <a:fontScheme name="Zombie Detecto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Zombie and Orphan Process Detection System</dc:title>
  <dc:subject>PptxGenJS Presentation</dc:subject>
  <dc:creator>OSSP Hackathon Team</dc:creator>
  <cp:lastModifiedBy>OSSP Hackathon Team</cp:lastModifiedBy>
  <cp:revision>1</cp:revision>
  <dcterms:created xsi:type="dcterms:W3CDTF">2026-10-17T04:52:45Z</dcterms:created>
  <dcterms:modified xsi:type="dcterms:W3CDTF">2026-10-17T04:52:45Z</dcterms:modified>
</cp:coreProperties>
</file>